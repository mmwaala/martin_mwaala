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0" r:id="rId2"/>
    <p:sldId id="315" r:id="rId3"/>
    <p:sldId id="313" r:id="rId4"/>
    <p:sldId id="259" r:id="rId5"/>
    <p:sldId id="310" r:id="rId6"/>
    <p:sldId id="287" r:id="rId7"/>
    <p:sldId id="305" r:id="rId8"/>
    <p:sldId id="312" r:id="rId9"/>
    <p:sldId id="264" r:id="rId10"/>
    <p:sldId id="293" r:id="rId11"/>
    <p:sldId id="316" r:id="rId12"/>
    <p:sldId id="268" r:id="rId13"/>
    <p:sldId id="297" r:id="rId14"/>
    <p:sldId id="29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1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7" autoAdjust="0"/>
    <p:restoredTop sz="96493" autoAdjust="0"/>
  </p:normalViewPr>
  <p:slideViewPr>
    <p:cSldViewPr snapToGrid="0" showGuides="1">
      <p:cViewPr varScale="1">
        <p:scale>
          <a:sx n="81" d="100"/>
          <a:sy n="81" d="100"/>
        </p:scale>
        <p:origin x="691" y="67"/>
      </p:cViewPr>
      <p:guideLst>
        <p:guide pos="3840"/>
        <p:guide orient="horz" pos="2160"/>
        <p:guide orient="horz" pos="14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[ChatGPT for Finance World Championship – Advanced Dataset-Martin_Mwaala_Solution.xlsx]Analysis!PivotTable3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3"/>
        <c:spPr>
          <a:solidFill>
            <a:schemeClr val="tx2"/>
          </a:solidFill>
          <a:ln w="19050">
            <a:solidFill>
              <a:schemeClr val="bg1"/>
            </a:solidFill>
          </a:ln>
          <a:effectLst/>
        </c:spPr>
      </c:pivotFmt>
      <c:pivotFmt>
        <c:idx val="4"/>
        <c:spPr>
          <a:solidFill>
            <a:schemeClr val="accent6">
              <a:lumMod val="75000"/>
            </a:schemeClr>
          </a:solidFill>
          <a:ln w="19050">
            <a:solidFill>
              <a:schemeClr val="bg1"/>
            </a:solidFill>
          </a:ln>
          <a:effectLst/>
        </c:spPr>
      </c:pivotFmt>
      <c:pivotFmt>
        <c:idx val="5"/>
        <c:spPr>
          <a:solidFill>
            <a:schemeClr val="accent5">
              <a:lumMod val="75000"/>
            </a:schemeClr>
          </a:solidFill>
          <a:ln w="19050">
            <a:solidFill>
              <a:schemeClr val="bg1"/>
            </a:solidFill>
          </a:ln>
          <a:effectLst/>
        </c:spPr>
      </c:pivotFmt>
      <c:pivotFmt>
        <c:idx val="6"/>
        <c:spPr>
          <a:solidFill>
            <a:schemeClr val="accent3">
              <a:lumMod val="75000"/>
            </a:schemeClr>
          </a:solidFill>
          <a:ln w="19050">
            <a:solidFill>
              <a:schemeClr val="bg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tx2"/>
          </a:solidFill>
          <a:ln w="19050">
            <a:solidFill>
              <a:schemeClr val="bg1"/>
            </a:solidFill>
          </a:ln>
          <a:effectLst/>
        </c:spPr>
      </c:pivotFmt>
      <c:pivotFmt>
        <c:idx val="9"/>
        <c:spPr>
          <a:solidFill>
            <a:schemeClr val="accent6">
              <a:lumMod val="75000"/>
            </a:schemeClr>
          </a:solidFill>
          <a:ln w="19050">
            <a:solidFill>
              <a:schemeClr val="bg1"/>
            </a:solidFill>
          </a:ln>
          <a:effectLst/>
        </c:spPr>
      </c:pivotFmt>
      <c:pivotFmt>
        <c:idx val="10"/>
        <c:spPr>
          <a:solidFill>
            <a:schemeClr val="accent5">
              <a:lumMod val="75000"/>
            </a:schemeClr>
          </a:solidFill>
          <a:ln w="19050">
            <a:solidFill>
              <a:schemeClr val="bg1"/>
            </a:solidFill>
          </a:ln>
          <a:effectLst/>
        </c:spPr>
      </c:pivotFmt>
      <c:pivotFmt>
        <c:idx val="11"/>
        <c:spPr>
          <a:solidFill>
            <a:schemeClr val="accent3">
              <a:lumMod val="75000"/>
            </a:schemeClr>
          </a:solidFill>
          <a:ln w="19050">
            <a:solidFill>
              <a:schemeClr val="bg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bg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tx2"/>
          </a:solidFill>
          <a:ln w="19050">
            <a:solidFill>
              <a:schemeClr val="bg1"/>
            </a:solidFill>
          </a:ln>
          <a:effectLst/>
        </c:spPr>
      </c:pivotFmt>
      <c:pivotFmt>
        <c:idx val="24"/>
        <c:spPr>
          <a:solidFill>
            <a:schemeClr val="accent6">
              <a:lumMod val="75000"/>
            </a:schemeClr>
          </a:solidFill>
          <a:ln w="19050">
            <a:solidFill>
              <a:schemeClr val="bg1"/>
            </a:solidFill>
          </a:ln>
          <a:effectLst/>
        </c:spPr>
      </c:pivotFmt>
      <c:pivotFmt>
        <c:idx val="25"/>
        <c:spPr>
          <a:solidFill>
            <a:schemeClr val="accent5">
              <a:lumMod val="75000"/>
            </a:schemeClr>
          </a:solidFill>
          <a:ln w="19050">
            <a:solidFill>
              <a:schemeClr val="bg1"/>
            </a:solidFill>
          </a:ln>
          <a:effectLst/>
        </c:spPr>
      </c:pivotFmt>
      <c:pivotFmt>
        <c:idx val="26"/>
        <c:spPr>
          <a:solidFill>
            <a:schemeClr val="accent3">
              <a:lumMod val="75000"/>
            </a:schemeClr>
          </a:solidFill>
          <a:ln w="19050">
            <a:solidFill>
              <a:schemeClr val="bg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Analysis!$D$32</c:f>
              <c:strCache>
                <c:ptCount val="1"/>
                <c:pt idx="0">
                  <c:v>Total Revenue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explosion val="13"/>
            <c:spPr>
              <a:solidFill>
                <a:schemeClr val="tx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5DC-43BF-A831-09A03CF88401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5DC-43BF-A831-09A03CF88401}"/>
              </c:ext>
            </c:extLst>
          </c:dPt>
          <c:dPt>
            <c:idx val="2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5DC-43BF-A831-09A03CF88401}"/>
              </c:ext>
            </c:extLst>
          </c:dPt>
          <c:dPt>
            <c:idx val="3"/>
            <c:bubble3D val="0"/>
            <c:spPr>
              <a:solidFill>
                <a:schemeClr val="accent3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5DC-43BF-A831-09A03CF88401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Analysis!$C$33:$C$37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</c:strCache>
            </c:strRef>
          </c:cat>
          <c:val>
            <c:numRef>
              <c:f>Analysis!$D$33:$D$37</c:f>
              <c:numCache>
                <c:formatCode>_(* #,##0_);_(* \(#,##0\);_(* "-"??_);_(@_)</c:formatCode>
                <c:ptCount val="4"/>
                <c:pt idx="0">
                  <c:v>728198.57999999984</c:v>
                </c:pt>
                <c:pt idx="1">
                  <c:v>636112.12</c:v>
                </c:pt>
                <c:pt idx="2">
                  <c:v>643812.02</c:v>
                </c:pt>
                <c:pt idx="3">
                  <c:v>511875.02999999985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5DC-43BF-A831-09A03CF88401}"/>
            </c:ext>
          </c:extLst>
        </c:ser>
        <c:ser>
          <c:idx val="1"/>
          <c:order val="1"/>
          <c:tx>
            <c:strRef>
              <c:f>Analysis!$E$32</c:f>
              <c:strCache>
                <c:ptCount val="1"/>
                <c:pt idx="0">
                  <c:v>Total Profit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15DC-43BF-A831-09A03CF8840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15DC-43BF-A831-09A03CF8840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15DC-43BF-A831-09A03CF8840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15DC-43BF-A831-09A03CF88401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Analysis!$C$33:$C$37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</c:strCache>
            </c:strRef>
          </c:cat>
          <c:val>
            <c:numRef>
              <c:f>Analysis!$E$33:$E$37</c:f>
              <c:numCache>
                <c:formatCode>_(* #,##0_);_(* \(#,##0\);_(* "-"??_);_(@_)</c:formatCode>
                <c:ptCount val="4"/>
                <c:pt idx="0">
                  <c:v>287535.43999999994</c:v>
                </c:pt>
                <c:pt idx="1">
                  <c:v>246036.00000000003</c:v>
                </c:pt>
                <c:pt idx="2">
                  <c:v>269817.18</c:v>
                </c:pt>
                <c:pt idx="3">
                  <c:v>179037.30000000002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5DC-43BF-A831-09A03CF88401}"/>
            </c:ext>
          </c:extLst>
        </c:ser>
        <c:ser>
          <c:idx val="2"/>
          <c:order val="2"/>
          <c:tx>
            <c:strRef>
              <c:f>Analysis!$F$32</c:f>
              <c:strCache>
                <c:ptCount val="1"/>
                <c:pt idx="0">
                  <c:v>% Profit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15DC-43BF-A831-09A03CF8840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15DC-43BF-A831-09A03CF8840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15DC-43BF-A831-09A03CF8840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15DC-43BF-A831-09A03CF88401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Analysis!$C$33:$C$37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</c:strCache>
            </c:strRef>
          </c:cat>
          <c:val>
            <c:numRef>
              <c:f>Analysis!$F$33:$F$37</c:f>
              <c:numCache>
                <c:formatCode>0.00%</c:formatCode>
                <c:ptCount val="4"/>
                <c:pt idx="0">
                  <c:v>0.29267900423474164</c:v>
                </c:pt>
                <c:pt idx="1">
                  <c:v>0.25043720344837811</c:v>
                </c:pt>
                <c:pt idx="2">
                  <c:v>0.27464379197161248</c:v>
                </c:pt>
                <c:pt idx="3">
                  <c:v>0.1822400003452678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15DC-43BF-A831-09A03CF884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AB83D-A9F4-445F-8891-82D59BBA78AD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364F2-C775-4278-A1BA-1AB6EFAF6D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9328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1364F2-C775-4278-A1BA-1AB6EFAF6DFA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0133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74087-0FC1-4949-85BC-FE38376F7F6B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8969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2615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1364F2-C775-4278-A1BA-1AB6EFAF6DFA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8600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40AF-40F2-43EF-A424-FBD5620B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D4490-21DB-4A8D-BE3A-5ADB9EBAD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BBF8A-0B5A-49D8-98BB-00CDE5BB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CF7AA-B1E9-49F6-B6DF-7EBF70C4E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29579-92F0-4246-BB4F-B79939A6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986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FI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40AF-40F2-43EF-A424-FBD5620B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50435"/>
            <a:ext cx="9144000" cy="757130"/>
          </a:xfrm>
        </p:spPr>
        <p:txBody>
          <a:bodyPr anchor="b">
            <a:spAutoFit/>
          </a:bodyPr>
          <a:lstStyle>
            <a:lvl1pPr algn="ctr"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2585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36D6A-CC4E-44A1-A4A0-28734A2F4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E92C6-9271-4204-B09B-7D8100E26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35038-78E8-426D-84BA-837CFFBF34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DF455-D88B-4335-B94C-2BF90A6B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7994E-119B-47C2-9E8D-D0FBB1D5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146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9442-F3FE-42EA-BEC2-D2F3AE8E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8E17E-267A-419A-A751-7CD8396B0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03DBF-24FD-45B7-937A-792FF56C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15F3F-569F-4771-B4ED-28DE178F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0A3CB-0305-4CE0-95FE-B9207298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966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A341-B8F9-4F43-90EB-DAB7AC41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600"/>
            <a:ext cx="10515600" cy="1324800"/>
          </a:xfrm>
        </p:spPr>
        <p:txBody>
          <a:bodyPr>
            <a:noAutofit/>
          </a:bodyPr>
          <a:lstStyle>
            <a:lvl1pPr>
              <a:defRPr sz="4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1F5F-0DF9-4874-AA60-D190F8023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2CE84-6341-4CFB-BAAF-2A291FA95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162D3-56E3-4E93-85D5-153F71D5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90F25-5305-42D3-8116-216331EB7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D5B12-F0FB-4481-9949-C531D66A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4435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006E-9612-4B5B-B9D6-319842F3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239C-3A52-4BA2-9EA7-5153B67D3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9B155-DC71-4F26-B565-C2E9EBCD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48D62-CF83-44B0-8129-54FAF5620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FA1B36-252F-4195-B8E1-79F816A8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E4A17C-35CC-40ED-BAEF-87D258C5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08122-560D-47B4-A7DC-8861A710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4FF47-6DEE-4889-B131-EC047A70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410779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0E0F-B29B-440D-9283-D8598F0C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4BA7D-30C1-46F5-BEF7-7439FCAB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52371-6651-4329-A58C-F304DCF9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60464-FE22-44D9-B5FE-BCB2C2BE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9854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FI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0E0F-B29B-440D-9283-D8598F0C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72519"/>
            <a:ext cx="10515600" cy="535531"/>
          </a:xfrm>
        </p:spPr>
        <p:txBody>
          <a:bodyPr lIns="90000">
            <a:sp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B2665D-B01D-4753-A2DA-D4F8395326EB}"/>
              </a:ext>
            </a:extLst>
          </p:cNvPr>
          <p:cNvCxnSpPr/>
          <p:nvPr userDrawn="1"/>
        </p:nvCxnSpPr>
        <p:spPr>
          <a:xfrm flipV="1">
            <a:off x="0" y="908050"/>
            <a:ext cx="1440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4F539F-2FBD-4985-AF70-6259D02CAE65}"/>
              </a:ext>
            </a:extLst>
          </p:cNvPr>
          <p:cNvSpPr txBox="1"/>
          <p:nvPr userDrawn="1"/>
        </p:nvSpPr>
        <p:spPr>
          <a:xfrm>
            <a:off x="242515" y="6500195"/>
            <a:ext cx="45401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>
                <a:solidFill>
                  <a:schemeClr val="tx2"/>
                </a:solidFill>
              </a:rPr>
              <a:t>Martin_Beenzu_Mwaala</a:t>
            </a:r>
          </a:p>
        </p:txBody>
      </p:sp>
    </p:spTree>
    <p:extLst>
      <p:ext uri="{BB962C8B-B14F-4D97-AF65-F5344CB8AC3E}">
        <p14:creationId xmlns:p14="http://schemas.microsoft.com/office/powerpoint/2010/main" val="3557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90328-A974-4313-AFB3-C15257D9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B9563-8E55-4466-9900-A84767B2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44D0-7ED2-4EA9-BAE9-FAAD7C8B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539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AFEF-A2DF-4C48-9412-2682A0CE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AFE8-8664-4B71-80BC-207C5FBD9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A1BA1-2FD9-49F4-95DE-5FC17F49B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3D4A3-596C-453B-88A8-149B2C85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B692B-7D6E-48CE-BBAE-C85810AB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56450-8C2F-4965-BA23-D07B2EC0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319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4423-CE78-4485-B704-1D9E5F49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44A5C3-043E-48FE-ABEF-7D325245C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D58DC-2794-4A09-A864-7F4372F82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69AC-5355-446D-A0E3-7AEEDA9C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A63A0-611D-4848-8878-1F7DB130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008F5-7605-4852-9EA9-CF1955F5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508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8D64-F586-458D-92BC-C918883B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8591A-31B2-4156-A090-46A956FFD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88D86-A4CC-4D2E-A24D-6E8B0F58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475D1-4BC7-4134-92FA-5FC08E89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F9DE1-73AF-4D6F-AE13-139BCE3A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160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A36DB-4F9B-4205-9A9D-432D62D4F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86C0F-C26E-4AD4-B759-85F8197B1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C5F2B-9C06-46A1-937F-C201A01A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349B1BB6-17BA-48C2-8395-62EAB74B79B4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C7A0E-C6A9-4B54-BE75-B1D9D774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BF28-BAD1-426B-A7B4-F4FC45A2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80776354-5974-40A5-B41E-AD4171BFCB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474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2B9D50-3460-4C97-9A6C-BE8B1D17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81DBA-CBBD-41F7-BA1B-0E8EAAD23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5891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0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234" userDrawn="1">
          <p15:clr>
            <a:srgbClr val="F26B43"/>
          </p15:clr>
        </p15:guide>
        <p15:guide id="3" orient="horz" pos="572" userDrawn="1">
          <p15:clr>
            <a:srgbClr val="F26B43"/>
          </p15:clr>
        </p15:guide>
        <p15:guide id="4" orient="horz" pos="754" userDrawn="1">
          <p15:clr>
            <a:srgbClr val="F26B43"/>
          </p15:clr>
        </p15:guide>
        <p15:guide id="5" pos="7446" userDrawn="1">
          <p15:clr>
            <a:srgbClr val="F26B43"/>
          </p15:clr>
        </p15:guide>
        <p15:guide id="6" orient="horz" pos="37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7DF9A8-AD1C-4AF0-B0F1-633A54DE0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03052"/>
            <a:ext cx="9144000" cy="757130"/>
          </a:xfrm>
        </p:spPr>
        <p:txBody>
          <a:bodyPr>
            <a:normAutofit/>
          </a:bodyPr>
          <a:lstStyle/>
          <a:p>
            <a:r>
              <a:rPr lang="en-CA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Revenue Analysis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E02F96-5927-4D42-980D-393C5D893873}"/>
              </a:ext>
            </a:extLst>
          </p:cNvPr>
          <p:cNvSpPr txBox="1"/>
          <p:nvPr/>
        </p:nvSpPr>
        <p:spPr>
          <a:xfrm>
            <a:off x="4127157" y="4872681"/>
            <a:ext cx="3937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2025/02/10</a:t>
            </a:r>
          </a:p>
        </p:txBody>
      </p:sp>
    </p:spTree>
    <p:extLst>
      <p:ext uri="{BB962C8B-B14F-4D97-AF65-F5344CB8AC3E}">
        <p14:creationId xmlns:p14="http://schemas.microsoft.com/office/powerpoint/2010/main" val="425224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6414E-D3E2-41B6-91AB-09D53C50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Executive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71ACD6-B46E-4798-8264-75FCF517027A}"/>
              </a:ext>
            </a:extLst>
          </p:cNvPr>
          <p:cNvSpPr/>
          <p:nvPr/>
        </p:nvSpPr>
        <p:spPr>
          <a:xfrm>
            <a:off x="934997" y="1196975"/>
            <a:ext cx="10885530" cy="14004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/>
                </a:solidFill>
              </a:rPr>
              <a:t>The company operates in multiple regions with diverse products, making revenue forecasting crucial for strategic decision-making.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/>
                </a:solidFill>
              </a:rPr>
              <a:t>Understanding key revenue drivers (Cost, Units Sold, and Customer Satisfaction) allows for optimizing pricing, inventory, and sales strategies.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/>
                </a:solidFill>
              </a:rPr>
              <a:t>Predicting revenue for the next three months provides insights into potential risks and growth opportunities, enabling proactive decision-making.</a:t>
            </a:r>
            <a:endParaRPr lang="en-CA" sz="11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DEF80A-070B-43EC-92F1-73C1D5FBD6A7}"/>
              </a:ext>
            </a:extLst>
          </p:cNvPr>
          <p:cNvSpPr/>
          <p:nvPr/>
        </p:nvSpPr>
        <p:spPr>
          <a:xfrm>
            <a:off x="934996" y="2699557"/>
            <a:ext cx="10885530" cy="14004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tlCol="0" anchor="ctr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tx1"/>
                </a:solidFill>
              </a:rPr>
              <a:t>Revenue Trends</a:t>
            </a:r>
            <a:r>
              <a:rPr lang="en-GB" sz="1050" b="1" dirty="0">
                <a:solidFill>
                  <a:srgbClr val="222222"/>
                </a:solidFill>
                <a:latin typeface="+mj-lt"/>
              </a:rPr>
              <a:t>: </a:t>
            </a:r>
            <a:r>
              <a:rPr lang="en-GB" sz="1050" dirty="0">
                <a:solidFill>
                  <a:schemeClr val="tx1"/>
                </a:solidFill>
              </a:rPr>
              <a:t>Revenue is primarily driven by Units Sold, with Cost playing a moderate role, while Customer Satisfaction has a weak direct impact.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tx1"/>
                </a:solidFill>
              </a:rPr>
              <a:t>Regional &amp; Product Performance: </a:t>
            </a:r>
            <a:r>
              <a:rPr lang="en-GB" sz="1050" dirty="0">
                <a:solidFill>
                  <a:schemeClr val="tx1"/>
                </a:solidFill>
              </a:rPr>
              <a:t>Certain regions and products consistently outperform, highlighting areas for potential investment.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tx1"/>
                </a:solidFill>
              </a:rPr>
              <a:t>Forecasting Results: </a:t>
            </a:r>
            <a:r>
              <a:rPr lang="en-GB" sz="1050" dirty="0">
                <a:solidFill>
                  <a:schemeClr val="tx1"/>
                </a:solidFill>
              </a:rPr>
              <a:t>A regression model using past revenue (t−1) predicts stable growth but reveals risks related to market fluctuations and operational inefficiencies.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tx1"/>
                </a:solidFill>
              </a:rPr>
              <a:t>Risks &amp; Opportunities: Over-reliance</a:t>
            </a:r>
            <a:r>
              <a:rPr lang="en-GB" sz="1050" dirty="0">
                <a:solidFill>
                  <a:schemeClr val="tx1"/>
                </a:solidFill>
              </a:rPr>
              <a:t> on high-performing regions/products poses a risk, but leveraging data-driven pricing and expansion strategies offers growth potential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006743-57F0-4852-98E1-9C4E8CB68F19}"/>
              </a:ext>
            </a:extLst>
          </p:cNvPr>
          <p:cNvSpPr/>
          <p:nvPr/>
        </p:nvSpPr>
        <p:spPr>
          <a:xfrm>
            <a:off x="934995" y="4193186"/>
            <a:ext cx="10885530" cy="14004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tlCol="0" anchor="ctr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tx1"/>
                </a:solidFill>
              </a:rPr>
              <a:t>Optimize Sales &amp; Inventory – </a:t>
            </a:r>
            <a:r>
              <a:rPr lang="en-GB" sz="1050" dirty="0">
                <a:solidFill>
                  <a:schemeClr val="tx1"/>
                </a:solidFill>
              </a:rPr>
              <a:t>Focus on high-performing regions and adjust stock levels accordingly.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tx1"/>
                </a:solidFill>
              </a:rPr>
              <a:t>Refine Pricing &amp; Marketing – </a:t>
            </a:r>
            <a:r>
              <a:rPr lang="en-GB" sz="1050" dirty="0">
                <a:solidFill>
                  <a:schemeClr val="tx1"/>
                </a:solidFill>
              </a:rPr>
              <a:t>Implement dynamic pricing and targeted campaigns for underperforming products</a:t>
            </a:r>
            <a:r>
              <a:rPr lang="en-GB" sz="1050" b="1" dirty="0">
                <a:solidFill>
                  <a:schemeClr val="tx1"/>
                </a:solidFill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tx1"/>
                </a:solidFill>
              </a:rPr>
              <a:t>Enhance Forecasting Models – </a:t>
            </a:r>
            <a:r>
              <a:rPr lang="en-GB" sz="1050" dirty="0">
                <a:solidFill>
                  <a:schemeClr val="tx1"/>
                </a:solidFill>
              </a:rPr>
              <a:t>Integrate external factors like market trends for improved accuracy.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tx1"/>
                </a:solidFill>
              </a:rPr>
              <a:t>Expand &amp; Strengthen Customer Engagement </a:t>
            </a:r>
            <a:r>
              <a:rPr lang="en-GB" sz="1050" dirty="0">
                <a:solidFill>
                  <a:schemeClr val="tx1"/>
                </a:solidFill>
              </a:rPr>
              <a:t>– Identify new market opportunities and improve retention strategies</a:t>
            </a:r>
            <a:r>
              <a:rPr lang="en-GB" sz="1000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29434E2-4C38-4D02-ABEB-262441D35A69}"/>
              </a:ext>
            </a:extLst>
          </p:cNvPr>
          <p:cNvSpPr/>
          <p:nvPr/>
        </p:nvSpPr>
        <p:spPr>
          <a:xfrm>
            <a:off x="371475" y="1196975"/>
            <a:ext cx="1178010" cy="139148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 dirty="0"/>
              <a:t>Why?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9ABAD05-44B8-4E79-A9A4-130BADB9B4E2}"/>
              </a:ext>
            </a:extLst>
          </p:cNvPr>
          <p:cNvSpPr/>
          <p:nvPr/>
        </p:nvSpPr>
        <p:spPr>
          <a:xfrm>
            <a:off x="371475" y="2699557"/>
            <a:ext cx="1178010" cy="139148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 dirty="0"/>
              <a:t>What?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3EF07A67-EE1D-4B4E-A23D-9853AA356AD9}"/>
              </a:ext>
            </a:extLst>
          </p:cNvPr>
          <p:cNvSpPr/>
          <p:nvPr/>
        </p:nvSpPr>
        <p:spPr>
          <a:xfrm>
            <a:off x="371475" y="4202139"/>
            <a:ext cx="1178010" cy="139148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341642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CF16-6924-4EBF-9738-8E2226DFB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Analysis Overview</a:t>
            </a:r>
          </a:p>
        </p:txBody>
      </p:sp>
    </p:spTree>
    <p:extLst>
      <p:ext uri="{BB962C8B-B14F-4D97-AF65-F5344CB8AC3E}">
        <p14:creationId xmlns:p14="http://schemas.microsoft.com/office/powerpoint/2010/main" val="220684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18AA-B5E6-4635-AEC8-66F6CD55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Overview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D4D7B-505D-4EC6-B43C-5F6903685D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71473" y="1561407"/>
            <a:ext cx="10995773" cy="1297791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1000" b="1" dirty="0">
                <a:solidFill>
                  <a:srgbClr val="222222"/>
                </a:solidFill>
                <a:latin typeface="Arial" panose="020B0604020202020204" pitchFamily="34" charset="0"/>
              </a:rPr>
              <a:t>Revenue Drivers</a:t>
            </a:r>
            <a:r>
              <a:rPr lang="en-GB" sz="1000" dirty="0">
                <a:solidFill>
                  <a:srgbClr val="222222"/>
                </a:solidFill>
                <a:latin typeface="Arial" panose="020B0604020202020204" pitchFamily="34" charset="0"/>
              </a:rPr>
              <a:t>: Units Sold is the strongest revenue contributor, followed by Cost, while Customer Satisfaction has minimal direct impact.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000" b="1" dirty="0">
                <a:solidFill>
                  <a:srgbClr val="222222"/>
                </a:solidFill>
                <a:latin typeface="Arial" panose="020B0604020202020204" pitchFamily="34" charset="0"/>
              </a:rPr>
              <a:t>Regional &amp; Product Performance</a:t>
            </a:r>
            <a:r>
              <a:rPr lang="en-GB" sz="1000" dirty="0">
                <a:solidFill>
                  <a:srgbClr val="222222"/>
                </a:solidFill>
                <a:latin typeface="Arial" panose="020B0604020202020204" pitchFamily="34" charset="0"/>
              </a:rPr>
              <a:t>: Certain regions/products dominate revenue, presenting expansion and optimization opportunities.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000" b="1" dirty="0">
                <a:solidFill>
                  <a:srgbClr val="222222"/>
                </a:solidFill>
                <a:latin typeface="Arial" panose="020B0604020202020204" pitchFamily="34" charset="0"/>
              </a:rPr>
              <a:t>Forecasted Growth: </a:t>
            </a:r>
            <a:r>
              <a:rPr lang="en-GB" sz="1000" dirty="0">
                <a:solidFill>
                  <a:srgbClr val="222222"/>
                </a:solidFill>
                <a:latin typeface="Arial" panose="020B0604020202020204" pitchFamily="34" charset="0"/>
              </a:rPr>
              <a:t>Revenue projections for the next three months indicate stable performance with potential seasonal fluctuations.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000" b="1" dirty="0">
                <a:solidFill>
                  <a:srgbClr val="222222"/>
                </a:solidFill>
                <a:latin typeface="Arial" panose="020B0604020202020204" pitchFamily="34" charset="0"/>
              </a:rPr>
              <a:t>Risks &amp; Opportunities: </a:t>
            </a:r>
            <a:r>
              <a:rPr lang="en-GB" sz="1000" dirty="0">
                <a:solidFill>
                  <a:srgbClr val="222222"/>
                </a:solidFill>
                <a:latin typeface="Arial" panose="020B0604020202020204" pitchFamily="34" charset="0"/>
              </a:rPr>
              <a:t>Over-reliance on key markets/products poses risks, but targeted pricing and sales strategies can drive growth.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1000" b="1" dirty="0">
                <a:solidFill>
                  <a:srgbClr val="222222"/>
                </a:solidFill>
                <a:latin typeface="Arial" panose="020B0604020202020204" pitchFamily="34" charset="0"/>
              </a:rPr>
              <a:t>Strategic Focus</a:t>
            </a:r>
            <a:r>
              <a:rPr lang="en-GB" sz="1000" dirty="0">
                <a:solidFill>
                  <a:srgbClr val="222222"/>
                </a:solidFill>
                <a:latin typeface="Arial" panose="020B0604020202020204" pitchFamily="34" charset="0"/>
              </a:rPr>
              <a:t>: Immediate actions on sales optimization, pricing adjustments, and improved forecasting will maximize revenue potential.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569A9-3139-4AF4-9615-804807B87BBC}"/>
              </a:ext>
            </a:extLst>
          </p:cNvPr>
          <p:cNvSpPr txBox="1"/>
          <p:nvPr/>
        </p:nvSpPr>
        <p:spPr>
          <a:xfrm>
            <a:off x="371474" y="1059100"/>
            <a:ext cx="10995773" cy="26161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CA" sz="1100" b="1" dirty="0">
                <a:solidFill>
                  <a:schemeClr val="bg1"/>
                </a:solidFill>
              </a:rPr>
              <a:t>Key Highlights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08D179-F7E0-46F8-BE0F-22E9D8F43640}"/>
              </a:ext>
            </a:extLst>
          </p:cNvPr>
          <p:cNvCxnSpPr/>
          <p:nvPr/>
        </p:nvCxnSpPr>
        <p:spPr>
          <a:xfrm>
            <a:off x="3756000" y="6216240"/>
            <a:ext cx="468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68EC8EB-E4E2-4137-9D6A-C5F246C7E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3" y="3036046"/>
            <a:ext cx="10995774" cy="7859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9549AE-9F3A-40F0-AD2A-1A9B65ABD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636" y="3998802"/>
            <a:ext cx="4577918" cy="2784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1925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/>
          <p:cNvSpPr/>
          <p:nvPr/>
        </p:nvSpPr>
        <p:spPr bwMode="auto">
          <a:xfrm>
            <a:off x="370800" y="4834885"/>
            <a:ext cx="5705760" cy="110871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US" sz="1100" b="1" dirty="0"/>
              <a:t>Overarching Competitive Advantage:</a:t>
            </a:r>
            <a:r>
              <a:rPr lang="en-GB" sz="1100" b="1" dirty="0"/>
              <a:t> </a:t>
            </a:r>
            <a:r>
              <a:rPr lang="en-GB" sz="1100" dirty="0"/>
              <a:t>By harnessing data-driven insights, optimizing our strongest revenue markets, and strategically expanding into underperforming regions, we create a sustainable competitive advantage that drives revenue growth while mitigating risk.</a:t>
            </a:r>
            <a:endParaRPr lang="en-US" sz="11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A8DCF5-C520-45B2-8A32-7902EB845721}"/>
              </a:ext>
            </a:extLst>
          </p:cNvPr>
          <p:cNvSpPr txBox="1"/>
          <p:nvPr/>
        </p:nvSpPr>
        <p:spPr>
          <a:xfrm>
            <a:off x="370800" y="1214936"/>
            <a:ext cx="11451600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r>
              <a:rPr lang="en-CA" sz="1100" b="1" dirty="0">
                <a:solidFill>
                  <a:schemeClr val="bg1"/>
                </a:solidFill>
              </a:rPr>
              <a:t>Performance </a:t>
            </a:r>
            <a:r>
              <a:rPr lang="en-CA" sz="1100" b="1" dirty="0" err="1">
                <a:solidFill>
                  <a:schemeClr val="bg1"/>
                </a:solidFill>
              </a:rPr>
              <a:t>bu</a:t>
            </a:r>
            <a:r>
              <a:rPr lang="en-CA" sz="1100" b="1" dirty="0">
                <a:solidFill>
                  <a:schemeClr val="bg1"/>
                </a:solidFill>
              </a:rPr>
              <a:t> Region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22834A-9741-458F-A05B-36570E1E0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Revenue by Region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FD5B86-94C3-4CE8-A41D-AA07A87368C7}"/>
              </a:ext>
            </a:extLst>
          </p:cNvPr>
          <p:cNvCxnSpPr/>
          <p:nvPr/>
        </p:nvCxnSpPr>
        <p:spPr>
          <a:xfrm>
            <a:off x="3756000" y="6216240"/>
            <a:ext cx="468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63B0FBF-13BB-4596-A1DC-83418F6AC202}"/>
              </a:ext>
            </a:extLst>
          </p:cNvPr>
          <p:cNvSpPr txBox="1">
            <a:spLocks/>
          </p:cNvSpPr>
          <p:nvPr/>
        </p:nvSpPr>
        <p:spPr>
          <a:xfrm>
            <a:off x="6446939" y="4334983"/>
            <a:ext cx="5373585" cy="704695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1000" dirty="0">
                <a:solidFill>
                  <a:srgbClr val="000000"/>
                </a:solidFill>
                <a:latin typeface="Arial" panose="020B0604020202020204" pitchFamily="34" charset="0"/>
              </a:rPr>
              <a:t>Our revenue distribution across regions reveals critical insights into where we are excelling and where we have opportunities for growth. This data-driven approach allows us to allocate resources effectively and optimize our revenue strategy.</a:t>
            </a:r>
            <a:endParaRPr lang="en-CA" sz="1000" dirty="0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01150FD1-B094-49B7-BD4E-A8246B670A66}"/>
              </a:ext>
            </a:extLst>
          </p:cNvPr>
          <p:cNvSpPr txBox="1">
            <a:spLocks/>
          </p:cNvSpPr>
          <p:nvPr/>
        </p:nvSpPr>
        <p:spPr>
          <a:xfrm>
            <a:off x="6442745" y="5243079"/>
            <a:ext cx="5373585" cy="704695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400"/>
              </a:spcBef>
              <a:buNone/>
            </a:pPr>
            <a:r>
              <a:rPr lang="en-GB" sz="3600" b="1" dirty="0">
                <a:solidFill>
                  <a:srgbClr val="000000"/>
                </a:solidFill>
                <a:latin typeface="Arial" panose="020B0604020202020204" pitchFamily="34" charset="0"/>
              </a:rPr>
              <a:t>South America </a:t>
            </a: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</a:rPr>
              <a:t>is our highest revenue-generating region, followed by </a:t>
            </a:r>
            <a:r>
              <a:rPr lang="en-GB" sz="3600" b="1" dirty="0">
                <a:solidFill>
                  <a:srgbClr val="000000"/>
                </a:solidFill>
                <a:latin typeface="Arial" panose="020B0604020202020204" pitchFamily="34" charset="0"/>
              </a:rPr>
              <a:t>North America </a:t>
            </a: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</a:rPr>
              <a:t>and </a:t>
            </a:r>
            <a:r>
              <a:rPr lang="en-GB" sz="3600" b="1" dirty="0">
                <a:solidFill>
                  <a:srgbClr val="000000"/>
                </a:solidFill>
                <a:latin typeface="Arial" panose="020B0604020202020204" pitchFamily="34" charset="0"/>
              </a:rPr>
              <a:t>Asia.</a:t>
            </a:r>
          </a:p>
          <a:p>
            <a:pPr marL="0" indent="0">
              <a:lnSpc>
                <a:spcPct val="170000"/>
              </a:lnSpc>
              <a:spcBef>
                <a:spcPts val="400"/>
              </a:spcBef>
              <a:buNone/>
            </a:pPr>
            <a:r>
              <a:rPr lang="en-GB" sz="3600" dirty="0">
                <a:solidFill>
                  <a:srgbClr val="000000"/>
                </a:solidFill>
                <a:latin typeface="Arial" panose="020B0604020202020204" pitchFamily="34" charset="0"/>
              </a:rPr>
              <a:t>These markets are driving a significant portion of total revenue, indicating strong sales volumes and customer demand.</a:t>
            </a:r>
          </a:p>
          <a:p>
            <a:pPr>
              <a:spcBef>
                <a:spcPts val="400"/>
              </a:spcBef>
            </a:pPr>
            <a:br>
              <a:rPr lang="en-GB" sz="1000" dirty="0"/>
            </a:br>
            <a:endParaRPr lang="en-CA" sz="1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04BF6D-6911-4223-BFF4-87C8A49CC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71" y="1476546"/>
            <a:ext cx="5941410" cy="3265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072379-5CC5-48D3-BF0B-1092501A0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745" y="1880274"/>
            <a:ext cx="4807832" cy="1886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227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6B4439E-18CF-4A6D-85AF-590A6CC41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Sales Distribution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84F85F-9FCF-450F-A808-5F2FCC9B559C}"/>
              </a:ext>
            </a:extLst>
          </p:cNvPr>
          <p:cNvSpPr txBox="1"/>
          <p:nvPr/>
        </p:nvSpPr>
        <p:spPr>
          <a:xfrm>
            <a:off x="370800" y="1198807"/>
            <a:ext cx="11451600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</a:rPr>
              <a:t>Key insights </a:t>
            </a:r>
            <a:endParaRPr lang="en-CA" sz="11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D18B74-5BD7-4B37-A477-CBF4D20EBA69}"/>
              </a:ext>
            </a:extLst>
          </p:cNvPr>
          <p:cNvCxnSpPr/>
          <p:nvPr/>
        </p:nvCxnSpPr>
        <p:spPr>
          <a:xfrm>
            <a:off x="3756000" y="6216240"/>
            <a:ext cx="468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6D94A38-CCAF-4CDA-B2A4-900E182E5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563" y="2552103"/>
            <a:ext cx="5893423" cy="36641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4E1168EA-2845-4AFB-8A47-B53C4E31B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00" y="1630845"/>
            <a:ext cx="11451600" cy="823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38105" lvl="1" indent="-171438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Sales volume varies significantly across regions, impacting overall revenue distribution.</a:t>
            </a:r>
          </a:p>
          <a:p>
            <a:pPr marL="238105" lvl="1" indent="-171438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Top-performing regions (</a:t>
            </a:r>
            <a:r>
              <a:rPr lang="en-GB" sz="10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South America, North America, and Asia</a:t>
            </a: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) drive the majority of sales, aligning with revenue trends.</a:t>
            </a:r>
          </a:p>
          <a:p>
            <a:pPr marL="238105" lvl="1" indent="-171438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Europe and Australia show moderate sales figures, suggesting opportunities for growth.</a:t>
            </a:r>
          </a:p>
          <a:p>
            <a:pPr marL="238105" lvl="1" indent="-171438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Sales-to-revenue ratio differs by region, indicating variations in pricing strategy, product mix, and operational efficiency.</a:t>
            </a:r>
            <a:endParaRPr lang="en-US" sz="1000" dirty="0">
              <a:solidFill>
                <a:srgbClr val="000000"/>
              </a:solidFill>
              <a:latin typeface="+mj-lt"/>
              <a:ea typeface="MS PGothic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2621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0800" y="1493005"/>
            <a:ext cx="11451600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fontAlgn="base">
              <a:spcBef>
                <a:spcPct val="0"/>
              </a:spcBef>
              <a:spcAft>
                <a:spcPts val="400"/>
              </a:spcAft>
              <a:buClr>
                <a:srgbClr val="003399"/>
              </a:buClr>
              <a:defRPr/>
            </a:pPr>
            <a:r>
              <a:rPr lang="en-US" sz="1100" b="1" dirty="0">
                <a:solidFill>
                  <a:schemeClr val="accent1"/>
                </a:solidFill>
              </a:rPr>
              <a:t>Price Volume Mix</a:t>
            </a:r>
            <a:endParaRPr lang="en-US" sz="1100" dirty="0">
              <a:solidFill>
                <a:schemeClr val="accent1"/>
              </a:solidFill>
            </a:endParaRPr>
          </a:p>
          <a:p>
            <a:pPr marL="171438" indent="-171438" eaLnBrk="0" fontAlgn="base" hangingPunct="0">
              <a:spcBef>
                <a:spcPct val="0"/>
              </a:spcBef>
              <a:spcAft>
                <a:spcPts val="400"/>
              </a:spcAft>
              <a:buClr>
                <a:srgbClr val="1E3448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b="1" dirty="0">
                <a:solidFill>
                  <a:schemeClr val="accent1"/>
                </a:solidFill>
              </a:rPr>
              <a:t>Maximize high-revenue products through strategic pricing, marketing, and innovation.</a:t>
            </a:r>
          </a:p>
          <a:p>
            <a:pPr marL="171438" indent="-171438" eaLnBrk="0" fontAlgn="base" hangingPunct="0">
              <a:spcBef>
                <a:spcPct val="0"/>
              </a:spcBef>
              <a:spcAft>
                <a:spcPts val="400"/>
              </a:spcAft>
              <a:buClr>
                <a:srgbClr val="1E3448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b="1" dirty="0">
                <a:solidFill>
                  <a:schemeClr val="accent1"/>
                </a:solidFill>
              </a:rPr>
              <a:t>Optimize mid-tier products by improving margins, bundling, and targeted promotions.</a:t>
            </a:r>
          </a:p>
          <a:p>
            <a:pPr marL="171438" indent="-171438" eaLnBrk="0" fontAlgn="base" hangingPunct="0">
              <a:spcBef>
                <a:spcPct val="0"/>
              </a:spcBef>
              <a:spcAft>
                <a:spcPts val="400"/>
              </a:spcAft>
              <a:buClr>
                <a:srgbClr val="1E3448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b="1" dirty="0">
                <a:solidFill>
                  <a:schemeClr val="accent1"/>
                </a:solidFill>
              </a:rPr>
              <a:t>Revitalize or phase out low-performing products based on market demand and profitability analysis.</a:t>
            </a:r>
            <a:endParaRPr lang="en-CA" sz="1000" dirty="0">
              <a:solidFill>
                <a:schemeClr val="accent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800" y="1198800"/>
            <a:ext cx="11451600" cy="262800"/>
          </a:xfrm>
          <a:prstGeom prst="rect">
            <a:avLst/>
          </a:prstGeom>
          <a:solidFill>
            <a:srgbClr val="132E57"/>
          </a:solidFill>
          <a:ln>
            <a:noFill/>
            <a:prstDash val="dash"/>
          </a:ln>
        </p:spPr>
        <p:txBody>
          <a:bodyPr wrap="square" lIns="90000" tIns="45720" bIns="45720" rtlCol="0" anchor="ctr" anchorCtr="0">
            <a:spAutoFit/>
          </a:bodyPr>
          <a:lstStyle/>
          <a:p>
            <a:pPr defTabSz="663510" eaLnBrk="0" hangingPunct="0">
              <a:lnSpc>
                <a:spcPct val="110000"/>
              </a:lnSpc>
              <a:spcAft>
                <a:spcPts val="100"/>
              </a:spcAft>
              <a:buClr>
                <a:srgbClr val="003399"/>
              </a:buClr>
              <a:defRPr/>
            </a:pPr>
            <a:r>
              <a:rPr lang="en-US" sz="1100" b="1" dirty="0">
                <a:solidFill>
                  <a:schemeClr val="bg1"/>
                </a:solidFill>
              </a:rPr>
              <a:t>Optimizing Product Performance for Sustainable Revenue Growth</a:t>
            </a:r>
            <a:endParaRPr lang="en-AU" sz="1100" b="1" dirty="0">
              <a:solidFill>
                <a:schemeClr val="bg1"/>
              </a:solidFill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34AF4697-CEA4-4DD7-BAFD-A5B9910F7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Product Line Analysis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726824-93C9-4945-BA76-85809BAC99D9}"/>
              </a:ext>
            </a:extLst>
          </p:cNvPr>
          <p:cNvCxnSpPr/>
          <p:nvPr/>
        </p:nvCxnSpPr>
        <p:spPr>
          <a:xfrm>
            <a:off x="3756000" y="6216240"/>
            <a:ext cx="468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A33BE449-DBC5-4C1E-A566-35EEC14CC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06" y="2719024"/>
            <a:ext cx="10995774" cy="7859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5C0F56-B6B1-4467-85D2-A26CEDE6C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00" y="3648603"/>
            <a:ext cx="4862413" cy="2600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8DB067-B130-4D1B-A179-7AC6B4E10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735" y="3619358"/>
            <a:ext cx="5696745" cy="2219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211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AF743B8-EF17-4026-8B14-1A3A31552304}"/>
              </a:ext>
            </a:extLst>
          </p:cNvPr>
          <p:cNvSpPr txBox="1"/>
          <p:nvPr/>
        </p:nvSpPr>
        <p:spPr>
          <a:xfrm>
            <a:off x="6387877" y="1198807"/>
            <a:ext cx="5432652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Company Revenue</a:t>
            </a:r>
            <a:endParaRPr lang="en-CA" sz="1100" b="1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2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185982"/>
              </p:ext>
            </p:extLst>
          </p:nvPr>
        </p:nvGraphicFramePr>
        <p:xfrm>
          <a:off x="379335" y="1460417"/>
          <a:ext cx="5313562" cy="48791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730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8390404"/>
                    </a:ext>
                  </a:extLst>
                </a:gridCol>
              </a:tblGrid>
              <a:tr h="213242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Revenue Breakdown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Total Revenue</a:t>
                      </a:r>
                      <a:r>
                        <a:rPr kumimoji="0" lang="en-US" sz="9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: 2.52M</a:t>
                      </a:r>
                      <a:endParaRPr kumimoji="0" 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242">
                <a:tc>
                  <a:txBody>
                    <a:bodyPr/>
                    <a:lstStyle/>
                    <a:p>
                      <a:pPr marL="0" marR="0" lvl="0" indent="-287337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Average Daily Revenue: </a:t>
                      </a:r>
                      <a:r>
                        <a:rPr kumimoji="0" lang="en-US" sz="9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5,040</a:t>
                      </a:r>
                      <a:endParaRPr kumimoji="0" 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242">
                <a:tc>
                  <a:txBody>
                    <a:bodyPr/>
                    <a:lstStyle/>
                    <a:p>
                      <a:pPr marL="0" marR="0" lvl="0" indent="-287337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itchFamily="34" charset="-128"/>
                          <a:cs typeface="Arial" charset="0"/>
                        </a:rPr>
                        <a:t>Max Daily Revenue: </a:t>
                      </a: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itchFamily="34" charset="-128"/>
                          <a:cs typeface="Arial" charset="0"/>
                        </a:rPr>
                        <a:t>8,950</a:t>
                      </a:r>
                    </a:p>
                  </a:txBody>
                  <a:tcPr marT="0" marB="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428">
                <a:tc>
                  <a:txBody>
                    <a:bodyPr/>
                    <a:lstStyle/>
                    <a:p>
                      <a:pPr marL="0" marR="0" lvl="0" indent="-287337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itchFamily="34" charset="-128"/>
                          <a:cs typeface="Arial" charset="0"/>
                        </a:rPr>
                        <a:t>Min Daily Revenue:  </a:t>
                      </a: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S PGothic" pitchFamily="34" charset="-128"/>
                          <a:cs typeface="Arial" charset="0"/>
                        </a:rPr>
                        <a:t>950</a:t>
                      </a:r>
                    </a:p>
                  </a:txBody>
                  <a:tcPr marT="0" marB="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242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Key Company Metrics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2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2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2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2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2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2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242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1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 Industry</a:t>
                      </a:r>
                      <a:endParaRPr kumimoji="0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606319"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9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Top Products: </a:t>
                      </a:r>
                      <a:r>
                        <a:rPr kumimoji="0" lang="en-GB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Product A generated the most revenue, followed by Product C and Product B.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9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Profitability Trends</a:t>
                      </a:r>
                      <a:r>
                        <a:rPr kumimoji="0" lang="en-GB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: While revenue is high in certain regions and products, profit margins vary significantly.</a:t>
                      </a: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3242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1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Revenue Profile 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510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9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Industry Outlook</a:t>
                      </a:r>
                      <a:r>
                        <a:rPr kumimoji="0" lang="en-GB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: The outlook is moderate growth with predictable variations, meaning that strategic adjustments in pricing, marketing, and product mix could optimize revenue further.</a:t>
                      </a: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41588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9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Weak Customer Satisfaction Impact:</a:t>
                      </a:r>
                      <a:r>
                        <a:rPr kumimoji="0" lang="en-GB" sz="9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With a correlation of 0.029, customer satisfaction does not appear to be a primary driver of revenue, suggesting that factors such as pricing, market size, and regional presence play a larger role.</a:t>
                      </a:r>
                      <a:endParaRPr kumimoji="0" lang="en-CA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Clr>
                          <a:srgbClr val="0033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CA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S PGothic" pitchFamily="34" charset="-128"/>
                        <a:cs typeface="Arial" charset="0"/>
                      </a:endParaRPr>
                    </a:p>
                  </a:txBody>
                  <a:tcPr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D536C543-B46B-4E0D-8C94-3A99BCB109CC}"/>
              </a:ext>
            </a:extLst>
          </p:cNvPr>
          <p:cNvSpPr txBox="1"/>
          <p:nvPr/>
        </p:nvSpPr>
        <p:spPr>
          <a:xfrm>
            <a:off x="370802" y="1198807"/>
            <a:ext cx="5432652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Financial Metrics &amp; Implications</a:t>
            </a:r>
            <a:endParaRPr lang="en-CA" sz="1100" b="1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849CAB-E223-4380-85F9-A50D93B5C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Trends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FEBED8-4B86-4638-A49F-3D9338FE8B4B}"/>
              </a:ext>
            </a:extLst>
          </p:cNvPr>
          <p:cNvCxnSpPr/>
          <p:nvPr/>
        </p:nvCxnSpPr>
        <p:spPr>
          <a:xfrm>
            <a:off x="3756000" y="6216240"/>
            <a:ext cx="468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E14310E-2FE5-4A9A-A728-6D9DB3210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00" y="2911531"/>
            <a:ext cx="2948940" cy="1135380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7EBDE813-2F45-40A6-B6B6-42AE1B9EC2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0890518"/>
              </p:ext>
            </p:extLst>
          </p:nvPr>
        </p:nvGraphicFramePr>
        <p:xfrm>
          <a:off x="6714565" y="1546655"/>
          <a:ext cx="3756211" cy="2326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CACFC64-C35D-4AB8-AFFB-F695F0538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000" y="3958991"/>
            <a:ext cx="2663685" cy="2209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4302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Regression Overview</a:t>
            </a:r>
          </a:p>
        </p:txBody>
      </p:sp>
    </p:spTree>
    <p:extLst>
      <p:ext uri="{BB962C8B-B14F-4D97-AF65-F5344CB8AC3E}">
        <p14:creationId xmlns:p14="http://schemas.microsoft.com/office/powerpoint/2010/main" val="314669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B9DAAB-06C2-487F-8F69-6FA2747FB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Regression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C67140-1273-4EBD-B421-A7CA40074305}"/>
              </a:ext>
            </a:extLst>
          </p:cNvPr>
          <p:cNvCxnSpPr/>
          <p:nvPr/>
        </p:nvCxnSpPr>
        <p:spPr>
          <a:xfrm>
            <a:off x="3756000" y="6216240"/>
            <a:ext cx="468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52FF266-57F7-471A-94D5-E8A97C58B37F}"/>
              </a:ext>
            </a:extLst>
          </p:cNvPr>
          <p:cNvSpPr txBox="1"/>
          <p:nvPr/>
        </p:nvSpPr>
        <p:spPr>
          <a:xfrm>
            <a:off x="109663" y="1007316"/>
            <a:ext cx="11451600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r>
              <a:rPr lang="en-GB" altLang="zh-CN" sz="1100" b="1" dirty="0">
                <a:solidFill>
                  <a:schemeClr val="bg1"/>
                </a:solidFill>
              </a:rPr>
              <a:t> Revenue Forecasting Using Regression on (t−1)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FDC8A5-2455-4188-91D5-3FF24E929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3011677"/>
            <a:ext cx="10970662" cy="3204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2CCE77A8-B6E8-4F88-8FE2-3D4E047AC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00" y="1478445"/>
            <a:ext cx="114516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38105" lvl="1" indent="-171438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Historical revenue </a:t>
            </a: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trends indicate strong correlation with past performance, justifying the use of t−1 as a predictor.</a:t>
            </a:r>
          </a:p>
          <a:p>
            <a:pPr marL="238105" lvl="1" indent="-171438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The </a:t>
            </a:r>
            <a:r>
              <a:rPr lang="en-GB" sz="10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model</a:t>
            </a: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 provides a straightforward yet effective short-term forecasting method, balancing accuracy and interpretability.</a:t>
            </a:r>
          </a:p>
          <a:p>
            <a:pPr marL="238105" lvl="1" indent="-171438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Regression</a:t>
            </a: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 results show stable revenue growth, with minor variations due to external factors not captured in t−1 alone.</a:t>
            </a:r>
          </a:p>
          <a:p>
            <a:pPr marL="238105" lvl="1" indent="-171438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Strategic application allows for proactive planning in inventory, budgeting, and resource allocation.</a:t>
            </a:r>
          </a:p>
          <a:p>
            <a:pPr marL="238105" lvl="1" indent="-171438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Future model enhancements could incorporate external variables (e.g., market trends, inflation) for improved long-term accuracy.</a:t>
            </a:r>
          </a:p>
        </p:txBody>
      </p:sp>
    </p:spTree>
    <p:extLst>
      <p:ext uri="{BB962C8B-B14F-4D97-AF65-F5344CB8AC3E}">
        <p14:creationId xmlns:p14="http://schemas.microsoft.com/office/powerpoint/2010/main" val="4060348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B9DAAB-06C2-487F-8F69-6FA2747FB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Regression Analysis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C67140-1273-4EBD-B421-A7CA40074305}"/>
              </a:ext>
            </a:extLst>
          </p:cNvPr>
          <p:cNvCxnSpPr/>
          <p:nvPr/>
        </p:nvCxnSpPr>
        <p:spPr>
          <a:xfrm>
            <a:off x="3756000" y="6216240"/>
            <a:ext cx="468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52FF266-57F7-471A-94D5-E8A97C58B37F}"/>
              </a:ext>
            </a:extLst>
          </p:cNvPr>
          <p:cNvSpPr txBox="1"/>
          <p:nvPr/>
        </p:nvSpPr>
        <p:spPr>
          <a:xfrm>
            <a:off x="109663" y="1007316"/>
            <a:ext cx="11451600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r>
              <a:rPr lang="en-GB" altLang="zh-CN" sz="1100" b="1" dirty="0">
                <a:solidFill>
                  <a:schemeClr val="bg1"/>
                </a:solidFill>
              </a:rPr>
              <a:t> Key Insights: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2CCE77A8-B6E8-4F88-8FE2-3D4E047AC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00" y="1478444"/>
            <a:ext cx="4254988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66667" lvl="1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defRPr/>
            </a:pPr>
            <a:r>
              <a:rPr lang="en-GB" sz="10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Market Dynamics:</a:t>
            </a:r>
          </a:p>
          <a:p>
            <a:pPr marL="238117" lvl="1" indent="-171450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Competitors are leveraging pricing strategies, digital transformation, and customer engagement to gain market share.</a:t>
            </a:r>
            <a:b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</a:br>
            <a:endParaRPr lang="en-GB" sz="1000" dirty="0">
              <a:solidFill>
                <a:srgbClr val="000000"/>
              </a:solidFill>
              <a:latin typeface="+mj-lt"/>
              <a:ea typeface="MS PGothic"/>
              <a:cs typeface="Arial"/>
            </a:endParaRPr>
          </a:p>
          <a:p>
            <a:pPr marL="66667" lvl="1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defRPr/>
            </a:pPr>
            <a:r>
              <a:rPr lang="en-GB" sz="10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Competitive Positioning:</a:t>
            </a:r>
          </a:p>
          <a:p>
            <a:pPr marL="238117" lvl="1" indent="-171450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Our strongest advantages lie in data-driven forecasting, regional dominance, and product performance optimization.</a:t>
            </a:r>
          </a:p>
          <a:p>
            <a:pPr marL="238117" lvl="1" indent="-171450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Key competitors are focusing on cost leadership, product diversification, or aggressive expansion strategies.</a:t>
            </a:r>
            <a:b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</a:br>
            <a:endParaRPr lang="en-GB" sz="1000" dirty="0">
              <a:solidFill>
                <a:srgbClr val="000000"/>
              </a:solidFill>
              <a:latin typeface="+mj-lt"/>
              <a:ea typeface="MS PGothic"/>
              <a:cs typeface="Arial"/>
            </a:endParaRPr>
          </a:p>
          <a:p>
            <a:pPr marL="66667" lvl="1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defRPr/>
            </a:pPr>
            <a:r>
              <a:rPr lang="en-GB" sz="10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Threats &amp; Challenges:</a:t>
            </a:r>
          </a:p>
          <a:p>
            <a:pPr marL="238117" lvl="1" indent="-171450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Price competition could impact margins if cost efficiency is not optimized.</a:t>
            </a:r>
          </a:p>
          <a:p>
            <a:pPr marL="238117" lvl="1" indent="-171450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Market saturation in key regions may limit organic growth, requiring new market penetration strategies.</a:t>
            </a:r>
          </a:p>
          <a:p>
            <a:pPr marL="238117" lvl="1" indent="-171450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Macroeconomic risks (inflation, supply chain disruptions) could affect revenue stability.</a:t>
            </a:r>
            <a:b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</a:br>
            <a:endParaRPr lang="en-GB" sz="1000" dirty="0">
              <a:solidFill>
                <a:srgbClr val="000000"/>
              </a:solidFill>
              <a:latin typeface="+mj-lt"/>
              <a:ea typeface="MS PGothic"/>
              <a:cs typeface="Arial"/>
            </a:endParaRPr>
          </a:p>
          <a:p>
            <a:pPr marL="66667" lvl="1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defRPr/>
            </a:pPr>
            <a:r>
              <a:rPr lang="en-GB" sz="10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Opportunities for Competitive Edge:</a:t>
            </a:r>
          </a:p>
          <a:p>
            <a:pPr marL="238117" lvl="1" indent="-171450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Data-driven decision-making to enhance pricing, inventory, and regional strategies.</a:t>
            </a:r>
          </a:p>
          <a:p>
            <a:pPr marL="238117" lvl="1" indent="-171450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Customer-centric innovation to differentiate products and increase brand loyalty.</a:t>
            </a:r>
          </a:p>
          <a:p>
            <a:pPr marL="238117" lvl="1" indent="-171450" fontAlgn="base">
              <a:spcBef>
                <a:spcPct val="0"/>
              </a:spcBef>
              <a:spcAft>
                <a:spcPts val="300"/>
              </a:spcAft>
              <a:buClr>
                <a:srgbClr val="132E57"/>
              </a:buClr>
              <a:buSzPct val="150000"/>
              <a:buFont typeface="Arial" panose="020B0604020202020204" pitchFamily="34" charset="0"/>
              <a:buChar char="•"/>
              <a:defRPr/>
            </a:pPr>
            <a:r>
              <a:rPr lang="en-GB" sz="1000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Expansion into high-growth markets by leveraging insights from revenue trends and demand forecasting.</a:t>
            </a:r>
          </a:p>
        </p:txBody>
      </p:sp>
      <p:pic>
        <p:nvPicPr>
          <p:cNvPr id="1026" name="Picture 2" descr="https://lh7-rt.googleusercontent.com/docsz/AD_4nXfb9-fHa98Nbi_uQwsdv78Thg0rb219qknl-asinMzc6eHkGZ3SIrmj6t7txJZ0qZn7WTL2HMNDCfC-oGTY2UpdYHBHFdZMkHaKsPHzjkRgE5BCeMJM0EXBm2FwoDZ2Peit3CO5?key=fDw_FMAZunuwRMWYvLXXXdw0">
            <a:extLst>
              <a:ext uri="{FF2B5EF4-FFF2-40B4-BE49-F238E27FC236}">
                <a16:creationId xmlns:a16="http://schemas.microsoft.com/office/drawing/2014/main" id="{62C6006B-13D5-4DF9-8000-DCED33390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624" y="2166195"/>
            <a:ext cx="59436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333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588821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1FEA-FC05-4078-80ED-42B7D822E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36660"/>
            <a:ext cx="10515600" cy="535531"/>
          </a:xfrm>
        </p:spPr>
        <p:txBody>
          <a:bodyPr/>
          <a:lstStyle/>
          <a:p>
            <a:r>
              <a:rPr lang="en-CA" dirty="0"/>
              <a:t>Recommendation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6AEE2E-1875-4A79-898A-6864AD033E1B}"/>
              </a:ext>
            </a:extLst>
          </p:cNvPr>
          <p:cNvSpPr txBox="1"/>
          <p:nvPr/>
        </p:nvSpPr>
        <p:spPr>
          <a:xfrm>
            <a:off x="370800" y="1198807"/>
            <a:ext cx="5400000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Insights</a:t>
            </a:r>
            <a:endParaRPr lang="en-CA" sz="1100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EA784A-42F2-497F-AE0B-960A6A17D789}"/>
              </a:ext>
            </a:extLst>
          </p:cNvPr>
          <p:cNvSpPr txBox="1"/>
          <p:nvPr/>
        </p:nvSpPr>
        <p:spPr>
          <a:xfrm>
            <a:off x="370800" y="3947918"/>
            <a:ext cx="5400000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r>
              <a:rPr lang="en-US" altLang="zh-CN" sz="1100" b="1">
                <a:solidFill>
                  <a:schemeClr val="bg1"/>
                </a:solidFill>
              </a:rPr>
              <a:t>Strategic Rationale</a:t>
            </a:r>
            <a:endParaRPr lang="en-CA" sz="1100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843403-F788-441A-BF1D-50E98CEDBE3D}"/>
              </a:ext>
            </a:extLst>
          </p:cNvPr>
          <p:cNvSpPr txBox="1"/>
          <p:nvPr/>
        </p:nvSpPr>
        <p:spPr>
          <a:xfrm>
            <a:off x="370800" y="1471930"/>
            <a:ext cx="5400000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spcBef>
                <a:spcPts val="500"/>
              </a:spcBef>
              <a:spcAft>
                <a:spcPct val="0"/>
              </a:spcAft>
              <a:buClr>
                <a:srgbClr val="1E3448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en-GB" sz="1000" b="1" dirty="0">
                <a:ea typeface="ＭＳ Ｐゴシック" pitchFamily="34" charset="-128"/>
                <a:cs typeface="Arial" charset="0"/>
              </a:rPr>
              <a:t>Expand High-Performing Regions: </a:t>
            </a:r>
            <a:r>
              <a:rPr lang="en-GB" sz="1000" dirty="0">
                <a:ea typeface="ＭＳ Ｐゴシック" pitchFamily="34" charset="-128"/>
                <a:cs typeface="Arial" charset="0"/>
              </a:rPr>
              <a:t>Invest in marketing, optimize distribution, and introduce premium pricing in top revenue-generating regions.</a:t>
            </a:r>
          </a:p>
          <a:p>
            <a:pPr marL="171450" indent="-171450" fontAlgn="base">
              <a:spcBef>
                <a:spcPts val="500"/>
              </a:spcBef>
              <a:spcAft>
                <a:spcPct val="0"/>
              </a:spcAft>
              <a:buClr>
                <a:srgbClr val="1E3448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en-GB" sz="1000" b="1" dirty="0">
                <a:ea typeface="ＭＳ Ｐゴシック" pitchFamily="34" charset="-128"/>
                <a:cs typeface="Arial" charset="0"/>
              </a:rPr>
              <a:t>Revitalize Low-Performing Regions: </a:t>
            </a:r>
            <a:r>
              <a:rPr lang="en-GB" sz="1000" dirty="0">
                <a:ea typeface="ＭＳ Ｐゴシック" pitchFamily="34" charset="-128"/>
                <a:cs typeface="Arial" charset="0"/>
              </a:rPr>
              <a:t>Launch targeted promotions, expand local partnerships, and adjust pricing based on demand elasticity.</a:t>
            </a:r>
          </a:p>
          <a:p>
            <a:pPr marL="171450" indent="-171450" fontAlgn="base">
              <a:spcBef>
                <a:spcPts val="500"/>
              </a:spcBef>
              <a:spcAft>
                <a:spcPct val="0"/>
              </a:spcAft>
              <a:buClr>
                <a:srgbClr val="1E3448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en-GB" sz="1000" b="1" dirty="0">
                <a:ea typeface="ＭＳ Ｐゴシック" pitchFamily="34" charset="-128"/>
                <a:cs typeface="Arial" charset="0"/>
              </a:rPr>
              <a:t>Optimize High-Revenue Products: </a:t>
            </a:r>
            <a:r>
              <a:rPr lang="en-GB" sz="1000" dirty="0">
                <a:ea typeface="ＭＳ Ｐゴシック" pitchFamily="34" charset="-128"/>
                <a:cs typeface="Arial" charset="0"/>
              </a:rPr>
              <a:t>Bundle products, introduce premium versions, and leverage upselling strategies to maximize revenue per customer.</a:t>
            </a:r>
          </a:p>
          <a:p>
            <a:pPr marL="171450" indent="-171450" fontAlgn="base">
              <a:spcBef>
                <a:spcPts val="500"/>
              </a:spcBef>
              <a:spcAft>
                <a:spcPct val="0"/>
              </a:spcAft>
              <a:buClr>
                <a:srgbClr val="1E3448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en-GB" sz="1000" b="1" dirty="0">
                <a:ea typeface="ＭＳ Ｐゴシック" pitchFamily="34" charset="-128"/>
                <a:cs typeface="Arial" charset="0"/>
              </a:rPr>
              <a:t>Reposition Low-Revenue Products</a:t>
            </a:r>
            <a:r>
              <a:rPr lang="en-GB" sz="1000" dirty="0">
                <a:ea typeface="ＭＳ Ｐゴシック" pitchFamily="34" charset="-128"/>
                <a:cs typeface="Arial" charset="0"/>
              </a:rPr>
              <a:t>: Conduct market research, rebrand or discontinue underperforming items, and test new product variations.</a:t>
            </a:r>
          </a:p>
          <a:p>
            <a:pPr marL="171450" indent="-171450" fontAlgn="base">
              <a:spcBef>
                <a:spcPts val="500"/>
              </a:spcBef>
              <a:spcAft>
                <a:spcPct val="0"/>
              </a:spcAft>
              <a:buClr>
                <a:srgbClr val="1E3448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en-GB" sz="1000" b="1" dirty="0">
                <a:ea typeface="ＭＳ Ｐゴシック" pitchFamily="34" charset="-128"/>
                <a:cs typeface="Arial" charset="0"/>
              </a:rPr>
              <a:t>Leverage Digital &amp; Sales Strategies: </a:t>
            </a:r>
            <a:r>
              <a:rPr lang="en-GB" sz="1000" dirty="0">
                <a:ea typeface="ＭＳ Ｐゴシック" pitchFamily="34" charset="-128"/>
                <a:cs typeface="Arial" charset="0"/>
              </a:rPr>
              <a:t>Implement dynamic pricing, enhance e-commerce presence, and train sales teams to convert more leads efficiently.</a:t>
            </a:r>
            <a:endParaRPr lang="en-CA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17CA36-8580-4775-AD5B-7D19166E3D8C}"/>
              </a:ext>
            </a:extLst>
          </p:cNvPr>
          <p:cNvSpPr txBox="1"/>
          <p:nvPr/>
        </p:nvSpPr>
        <p:spPr>
          <a:xfrm>
            <a:off x="6422400" y="1198807"/>
            <a:ext cx="5400000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bg1"/>
                </a:solidFill>
                <a:ea typeface="ＭＳ Ｐゴシック" pitchFamily="34" charset="-128"/>
                <a:cs typeface="Arial" charset="0"/>
              </a:rPr>
              <a:t>Target Revenue.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CD30EC-5CC8-464E-A7DB-E1DDF66826F9}"/>
              </a:ext>
            </a:extLst>
          </p:cNvPr>
          <p:cNvSpPr txBox="1"/>
          <p:nvPr/>
        </p:nvSpPr>
        <p:spPr>
          <a:xfrm>
            <a:off x="6420525" y="3947918"/>
            <a:ext cx="5401875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AU" sz="1100" b="1" dirty="0">
                <a:solidFill>
                  <a:schemeClr val="bg1"/>
                </a:solidFill>
                <a:ea typeface="ＭＳ Ｐゴシック" pitchFamily="34" charset="-128"/>
                <a:cs typeface="Arial" charset="0"/>
              </a:rPr>
              <a:t>Product Revenue</a:t>
            </a:r>
            <a:endParaRPr lang="en-US" sz="1100" b="1" dirty="0">
              <a:solidFill>
                <a:schemeClr val="bg1"/>
              </a:solidFill>
              <a:ea typeface="ＭＳ Ｐゴシック" pitchFamily="34" charset="-128"/>
              <a:cs typeface="Arial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FBB7CE-35D9-4EF7-B990-2F0ED66CF786}"/>
              </a:ext>
            </a:extLst>
          </p:cNvPr>
          <p:cNvCxnSpPr/>
          <p:nvPr/>
        </p:nvCxnSpPr>
        <p:spPr>
          <a:xfrm>
            <a:off x="3756000" y="6216240"/>
            <a:ext cx="468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4A6A275-68FB-44C7-A733-215FA0E5D5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11983" r="53214"/>
          <a:stretch/>
        </p:blipFill>
        <p:spPr>
          <a:xfrm>
            <a:off x="6583961" y="1579522"/>
            <a:ext cx="5156626" cy="2321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770901-F1F4-4276-9B82-84C422353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80" y="4292775"/>
            <a:ext cx="4986273" cy="233099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FD8B3F-FDBD-472E-9AA6-98D0D81998A4}"/>
              </a:ext>
            </a:extLst>
          </p:cNvPr>
          <p:cNvSpPr/>
          <p:nvPr/>
        </p:nvSpPr>
        <p:spPr>
          <a:xfrm>
            <a:off x="368926" y="4185741"/>
            <a:ext cx="540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000" b="1" dirty="0">
                <a:ea typeface="ＭＳ Ｐゴシック" pitchFamily="34" charset="-128"/>
                <a:cs typeface="Arial" charset="0"/>
              </a:rPr>
              <a:t>Maximizing High-Performing Segments: </a:t>
            </a:r>
            <a:r>
              <a:rPr lang="en-GB" sz="1000" dirty="0">
                <a:ea typeface="ＭＳ Ｐゴシック" pitchFamily="34" charset="-128"/>
                <a:cs typeface="Arial" charset="0"/>
              </a:rPr>
              <a:t>Expanding successful regions and products ensures faster revenue growth with minimal risk, leveraging existing demand.</a:t>
            </a:r>
            <a:br>
              <a:rPr lang="en-GB" sz="1000" dirty="0">
                <a:ea typeface="ＭＳ Ｐゴシック" pitchFamily="34" charset="-128"/>
                <a:cs typeface="Arial" charset="0"/>
              </a:rPr>
            </a:br>
            <a:endParaRPr lang="en-GB" sz="1000" dirty="0">
              <a:ea typeface="ＭＳ Ｐゴシック" pitchFamily="34" charset="-128"/>
              <a:cs typeface="Arial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000" b="1" dirty="0">
                <a:ea typeface="ＭＳ Ｐゴシック" pitchFamily="34" charset="-128"/>
                <a:cs typeface="Arial" charset="0"/>
              </a:rPr>
              <a:t>Unlocking Untapped Potential: </a:t>
            </a:r>
            <a:r>
              <a:rPr lang="en-GB" sz="1000" dirty="0">
                <a:ea typeface="ＭＳ Ｐゴシック" pitchFamily="34" charset="-128"/>
                <a:cs typeface="Arial" charset="0"/>
              </a:rPr>
              <a:t>Addressing low-performing regions and products allows for market expansion, diversifying revenue streams and reducing dependency on top segments.</a:t>
            </a:r>
            <a:br>
              <a:rPr lang="en-GB" sz="1000" dirty="0">
                <a:ea typeface="ＭＳ Ｐゴシック" pitchFamily="34" charset="-128"/>
                <a:cs typeface="Arial" charset="0"/>
              </a:rPr>
            </a:br>
            <a:endParaRPr lang="en-GB" sz="1000" dirty="0">
              <a:ea typeface="ＭＳ Ｐゴシック" pitchFamily="34" charset="-128"/>
              <a:cs typeface="Arial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000" b="1" dirty="0">
                <a:ea typeface="ＭＳ Ｐゴシック" pitchFamily="34" charset="-128"/>
                <a:cs typeface="Arial" charset="0"/>
              </a:rPr>
              <a:t>Enhancing Profitability: </a:t>
            </a:r>
            <a:r>
              <a:rPr lang="en-GB" sz="1000" dirty="0">
                <a:ea typeface="ＭＳ Ｐゴシック" pitchFamily="34" charset="-128"/>
                <a:cs typeface="Arial" charset="0"/>
              </a:rPr>
              <a:t>Optimizing pricing, bundling, and premium product strategies increases revenue per unit sold while improving profit margins.</a:t>
            </a:r>
            <a:br>
              <a:rPr lang="en-GB" sz="1000" dirty="0">
                <a:ea typeface="ＭＳ Ｐゴシック" pitchFamily="34" charset="-128"/>
                <a:cs typeface="Arial" charset="0"/>
              </a:rPr>
            </a:br>
            <a:endParaRPr lang="en-GB" sz="1000" dirty="0">
              <a:ea typeface="ＭＳ Ｐゴシック" pitchFamily="34" charset="-128"/>
              <a:cs typeface="Arial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000" b="1" dirty="0">
                <a:ea typeface="ＭＳ Ｐゴシック" pitchFamily="34" charset="-128"/>
                <a:cs typeface="Arial" charset="0"/>
              </a:rPr>
              <a:t>Adapting to Market Dynamics: </a:t>
            </a:r>
            <a:r>
              <a:rPr lang="en-GB" sz="1000" dirty="0">
                <a:ea typeface="ＭＳ Ｐゴシック" pitchFamily="34" charset="-128"/>
                <a:cs typeface="Arial" charset="0"/>
              </a:rPr>
              <a:t>Dynamic pricing and localized strategies enable responsiveness to consumer demand, competition, and economic shifts.</a:t>
            </a:r>
          </a:p>
        </p:txBody>
      </p:sp>
    </p:spTree>
    <p:extLst>
      <p:ext uri="{BB962C8B-B14F-4D97-AF65-F5344CB8AC3E}">
        <p14:creationId xmlns:p14="http://schemas.microsoft.com/office/powerpoint/2010/main" val="1788912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6414E-D3E2-41B6-91AB-09D53C50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Strategic Review and Opportunities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AEC676-FD8F-4E70-9310-997FFB6C7DE1}"/>
              </a:ext>
            </a:extLst>
          </p:cNvPr>
          <p:cNvSpPr/>
          <p:nvPr/>
        </p:nvSpPr>
        <p:spPr bwMode="auto">
          <a:xfrm>
            <a:off x="7801799" y="1609457"/>
            <a:ext cx="4017007" cy="4330923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28578" indent="-228578" defTabSz="457155" eaLnBrk="0" fontAlgn="base" hangingPunct="0">
              <a:spcBef>
                <a:spcPct val="0"/>
              </a:spcBef>
              <a:spcAft>
                <a:spcPts val="30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lang="en-US" sz="10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  <a:t>Strategic Review (Current State)</a:t>
            </a:r>
            <a:br>
              <a:rPr lang="en-US" sz="1000" b="1" dirty="0">
                <a:solidFill>
                  <a:srgbClr val="000000"/>
                </a:solidFill>
                <a:latin typeface="+mj-lt"/>
                <a:ea typeface="MS PGothic"/>
                <a:cs typeface="Arial"/>
              </a:rPr>
            </a:br>
            <a:endParaRPr lang="en-US" sz="1000" b="1" dirty="0">
              <a:solidFill>
                <a:srgbClr val="000000"/>
              </a:solidFill>
              <a:latin typeface="+mj-lt"/>
              <a:ea typeface="MS PGothic"/>
              <a:cs typeface="Arial"/>
            </a:endParaRPr>
          </a:p>
          <a:p>
            <a:pPr marL="171450" indent="-171450" fontAlgn="base">
              <a:spcBef>
                <a:spcPts val="500"/>
              </a:spcBef>
              <a:spcAft>
                <a:spcPct val="0"/>
              </a:spcAft>
              <a:buClr>
                <a:srgbClr val="1E3448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en-GB" sz="1200" b="1" dirty="0">
                <a:ea typeface="ＭＳ Ｐゴシック" pitchFamily="34" charset="-128"/>
                <a:cs typeface="Arial" charset="0"/>
              </a:rPr>
              <a:t>Revenue Distribution: </a:t>
            </a:r>
            <a:r>
              <a:rPr lang="en-GB" sz="1200" dirty="0">
                <a:ea typeface="ＭＳ Ｐゴシック" pitchFamily="34" charset="-128"/>
                <a:cs typeface="Arial" charset="0"/>
              </a:rPr>
              <a:t>Revenue is concentrated in specific regions and products, meaning the company depends on a few key markets.</a:t>
            </a:r>
            <a:br>
              <a:rPr lang="en-GB" sz="1200" dirty="0">
                <a:ea typeface="ＭＳ Ｐゴシック" pitchFamily="34" charset="-128"/>
                <a:cs typeface="Arial" charset="0"/>
              </a:rPr>
            </a:br>
            <a:endParaRPr lang="en-GB" sz="1200" dirty="0">
              <a:ea typeface="ＭＳ Ｐゴシック" pitchFamily="34" charset="-128"/>
              <a:cs typeface="Arial" charset="0"/>
            </a:endParaRPr>
          </a:p>
          <a:p>
            <a:pPr marL="171450" indent="-171450" fontAlgn="base">
              <a:spcBef>
                <a:spcPts val="500"/>
              </a:spcBef>
              <a:spcAft>
                <a:spcPct val="0"/>
              </a:spcAft>
              <a:buClr>
                <a:srgbClr val="1E3448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en-GB" sz="1200" b="1" dirty="0">
                <a:ea typeface="ＭＳ Ｐゴシック" pitchFamily="34" charset="-128"/>
                <a:cs typeface="Arial" charset="0"/>
              </a:rPr>
              <a:t>Profitability Variation: </a:t>
            </a:r>
            <a:r>
              <a:rPr lang="en-GB" sz="1200" dirty="0">
                <a:ea typeface="ＭＳ Ｐゴシック" pitchFamily="34" charset="-128"/>
                <a:cs typeface="Arial" charset="0"/>
              </a:rPr>
              <a:t>Some high-revenue segments have low profit margins, indicating potential inefficiencies in pricing or cost management.</a:t>
            </a:r>
            <a:br>
              <a:rPr lang="en-GB" sz="1200" dirty="0">
                <a:ea typeface="ＭＳ Ｐゴシック" pitchFamily="34" charset="-128"/>
                <a:cs typeface="Arial" charset="0"/>
              </a:rPr>
            </a:br>
            <a:endParaRPr lang="en-GB" sz="1200" dirty="0">
              <a:ea typeface="ＭＳ Ｐゴシック" pitchFamily="34" charset="-128"/>
              <a:cs typeface="Arial" charset="0"/>
            </a:endParaRPr>
          </a:p>
          <a:p>
            <a:pPr marL="171450" indent="-171450" fontAlgn="base">
              <a:spcBef>
                <a:spcPts val="500"/>
              </a:spcBef>
              <a:spcAft>
                <a:spcPct val="0"/>
              </a:spcAft>
              <a:buClr>
                <a:srgbClr val="1E3448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en-GB" sz="1200" b="1" dirty="0">
                <a:ea typeface="ＭＳ Ｐゴシック" pitchFamily="34" charset="-128"/>
                <a:cs typeface="Arial" charset="0"/>
              </a:rPr>
              <a:t>Customer Satisfaction Impact: </a:t>
            </a:r>
            <a:r>
              <a:rPr lang="en-GB" sz="1200" dirty="0">
                <a:ea typeface="ＭＳ Ｐゴシック" pitchFamily="34" charset="-128"/>
                <a:cs typeface="Arial" charset="0"/>
              </a:rPr>
              <a:t>With a weak correlation to revenue, current business strategy does not seem heavily reliant on improving customer experience</a:t>
            </a:r>
            <a:br>
              <a:rPr lang="en-GB" sz="1200" dirty="0">
                <a:ea typeface="ＭＳ Ｐゴシック" pitchFamily="34" charset="-128"/>
                <a:cs typeface="Arial" charset="0"/>
              </a:rPr>
            </a:br>
            <a:r>
              <a:rPr lang="en-GB" sz="1200" dirty="0">
                <a:ea typeface="ＭＳ Ｐゴシック" pitchFamily="34" charset="-128"/>
                <a:cs typeface="Arial" charset="0"/>
              </a:rPr>
              <a:t>.</a:t>
            </a:r>
          </a:p>
          <a:p>
            <a:pPr marL="171450" indent="-171450" fontAlgn="base">
              <a:spcBef>
                <a:spcPts val="500"/>
              </a:spcBef>
              <a:spcAft>
                <a:spcPct val="0"/>
              </a:spcAft>
              <a:buClr>
                <a:srgbClr val="1E3448"/>
              </a:buClr>
              <a:buSzPct val="150000"/>
              <a:buFont typeface="Wingdings" panose="05000000000000000000" pitchFamily="2" charset="2"/>
              <a:buChar char="§"/>
              <a:defRPr/>
            </a:pPr>
            <a:r>
              <a:rPr lang="en-GB" sz="1200" b="1" dirty="0">
                <a:ea typeface="ＭＳ Ｐゴシック" pitchFamily="34" charset="-128"/>
                <a:cs typeface="Arial" charset="0"/>
              </a:rPr>
              <a:t>Seasonal Trends Observed: </a:t>
            </a:r>
            <a:r>
              <a:rPr lang="en-GB" sz="1200" dirty="0">
                <a:ea typeface="ＭＳ Ｐゴシック" pitchFamily="34" charset="-128"/>
                <a:cs typeface="Arial" charset="0"/>
              </a:rPr>
              <a:t>Revenue follows a periodic pattern, suggesting external factors (holidays, economic cycles) influence sales performance.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8DE2C2-E21B-4942-B5AD-054EC8DA952C}"/>
              </a:ext>
            </a:extLst>
          </p:cNvPr>
          <p:cNvSpPr txBox="1"/>
          <p:nvPr/>
        </p:nvSpPr>
        <p:spPr>
          <a:xfrm>
            <a:off x="370800" y="1198807"/>
            <a:ext cx="11451600" cy="261610"/>
          </a:xfrm>
          <a:prstGeom prst="rect">
            <a:avLst/>
          </a:prstGeom>
          <a:solidFill>
            <a:srgbClr val="132E57"/>
          </a:solidFill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</a:rPr>
              <a:t>Opportunities for Revenue Growth</a:t>
            </a:r>
            <a:endParaRPr lang="en-CA" sz="11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41B89C-AFC1-404F-886B-FD5988B77F25}"/>
              </a:ext>
            </a:extLst>
          </p:cNvPr>
          <p:cNvCxnSpPr/>
          <p:nvPr/>
        </p:nvCxnSpPr>
        <p:spPr>
          <a:xfrm>
            <a:off x="3756000" y="6216240"/>
            <a:ext cx="4680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C71ACD6-B46E-4798-8264-75FCF517027A}"/>
              </a:ext>
            </a:extLst>
          </p:cNvPr>
          <p:cNvSpPr/>
          <p:nvPr/>
        </p:nvSpPr>
        <p:spPr>
          <a:xfrm>
            <a:off x="934997" y="1555891"/>
            <a:ext cx="6509090" cy="14004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tlCol="0" anchor="ctr"/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GB" sz="1050" b="1" dirty="0">
                <a:solidFill>
                  <a:schemeClr val="tx1"/>
                </a:solidFill>
              </a:rPr>
              <a:t>Market Expansion in Underperforming Regions</a:t>
            </a:r>
          </a:p>
          <a:p>
            <a:pPr marL="171450" lvl="0" indent="-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/>
                </a:solidFill>
              </a:rPr>
              <a:t>Enter new geographic markets with high demand potential.</a:t>
            </a:r>
          </a:p>
          <a:p>
            <a:pPr marL="171450" lvl="0" indent="-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/>
                </a:solidFill>
              </a:rPr>
              <a:t>Customize product offerings based on regional preferences</a:t>
            </a:r>
            <a:r>
              <a:rPr lang="en-GB" sz="1100" b="1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CA" sz="10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DEF80A-070B-43EC-92F1-73C1D5FBD6A7}"/>
              </a:ext>
            </a:extLst>
          </p:cNvPr>
          <p:cNvSpPr/>
          <p:nvPr/>
        </p:nvSpPr>
        <p:spPr>
          <a:xfrm>
            <a:off x="934996" y="3058473"/>
            <a:ext cx="6509090" cy="14004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tlCol="0" anchor="ctr"/>
          <a:lstStyle/>
          <a:p>
            <a:pPr lvl="0" eaLnBrk="0" fontAlgn="base" hangingPunct="0">
              <a:spcBef>
                <a:spcPct val="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GB" sz="1000" b="1" dirty="0">
                <a:solidFill>
                  <a:schemeClr val="tx1"/>
                </a:solidFill>
              </a:rPr>
              <a:t>Product Diversification &amp; Upselling</a:t>
            </a:r>
          </a:p>
          <a:p>
            <a:pPr marL="171450" lvl="0" indent="-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sz="1100" dirty="0">
                <a:solidFill>
                  <a:schemeClr val="tx1"/>
                </a:solidFill>
              </a:rPr>
              <a:t>Introduce premium versions of high-performing products.</a:t>
            </a:r>
          </a:p>
          <a:p>
            <a:pPr marL="171450" lvl="0" indent="-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sz="1100" dirty="0">
                <a:solidFill>
                  <a:schemeClr val="tx1"/>
                </a:solidFill>
              </a:rPr>
              <a:t>Bundle products together to increase total revenue per transaction.</a:t>
            </a:r>
          </a:p>
          <a:p>
            <a:pPr algn="ctr"/>
            <a:endParaRPr lang="en-CA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006743-57F0-4852-98E1-9C4E8CB68F19}"/>
              </a:ext>
            </a:extLst>
          </p:cNvPr>
          <p:cNvSpPr/>
          <p:nvPr/>
        </p:nvSpPr>
        <p:spPr>
          <a:xfrm>
            <a:off x="934995" y="4552102"/>
            <a:ext cx="6509090" cy="14004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tlCol="0" anchor="ctr"/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GB" sz="1100" b="1" dirty="0">
                <a:solidFill>
                  <a:schemeClr val="tx1"/>
                </a:solidFill>
              </a:rPr>
              <a:t>Operational Efficiency &amp; Cost Management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GB" sz="1100" dirty="0">
                <a:solidFill>
                  <a:schemeClr val="tx1"/>
                </a:solidFill>
              </a:rPr>
              <a:t>Improve supply chain to reduce costs and boost profit margins.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defRPr/>
            </a:pPr>
            <a:r>
              <a:rPr lang="en-GB" sz="1100" dirty="0">
                <a:solidFill>
                  <a:schemeClr val="tx1"/>
                </a:solidFill>
              </a:rPr>
              <a:t>Optimize pricing strategy based on customer demand elasticity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29434E2-4C38-4D02-ABEB-262441D35A69}"/>
              </a:ext>
            </a:extLst>
          </p:cNvPr>
          <p:cNvSpPr/>
          <p:nvPr/>
        </p:nvSpPr>
        <p:spPr>
          <a:xfrm>
            <a:off x="371475" y="1555891"/>
            <a:ext cx="1178010" cy="139148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 dirty="0" err="1"/>
              <a:t>Reco</a:t>
            </a:r>
            <a:r>
              <a:rPr lang="en-CA" sz="1000" b="1" dirty="0"/>
              <a:t> 1: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9ABAD05-44B8-4E79-A9A4-130BADB9B4E2}"/>
              </a:ext>
            </a:extLst>
          </p:cNvPr>
          <p:cNvSpPr/>
          <p:nvPr/>
        </p:nvSpPr>
        <p:spPr>
          <a:xfrm>
            <a:off x="371475" y="3058473"/>
            <a:ext cx="1178010" cy="139148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 err="1"/>
              <a:t>Reco</a:t>
            </a:r>
            <a:r>
              <a:rPr lang="en-CA" sz="1000" dirty="0"/>
              <a:t> 2: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3EF07A67-EE1D-4B4E-A23D-9853AA356AD9}"/>
              </a:ext>
            </a:extLst>
          </p:cNvPr>
          <p:cNvSpPr/>
          <p:nvPr/>
        </p:nvSpPr>
        <p:spPr>
          <a:xfrm>
            <a:off x="371475" y="4561055"/>
            <a:ext cx="1178010" cy="139148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 err="1"/>
              <a:t>Reco</a:t>
            </a:r>
            <a:r>
              <a:rPr lang="en-CA" sz="1000" dirty="0"/>
              <a:t> 3:</a:t>
            </a:r>
          </a:p>
        </p:txBody>
      </p:sp>
    </p:spTree>
    <p:extLst>
      <p:ext uri="{BB962C8B-B14F-4D97-AF65-F5344CB8AC3E}">
        <p14:creationId xmlns:p14="http://schemas.microsoft.com/office/powerpoint/2010/main" val="256886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32E57"/>
      </a:dk2>
      <a:lt2>
        <a:srgbClr val="E7E6E6"/>
      </a:lt2>
      <a:accent1>
        <a:srgbClr val="132E57"/>
      </a:accent1>
      <a:accent2>
        <a:srgbClr val="FA621C"/>
      </a:accent2>
      <a:accent3>
        <a:srgbClr val="F57A16"/>
      </a:accent3>
      <a:accent4>
        <a:srgbClr val="E6E7E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">
      <a:majorFont>
        <a:latin typeface="Open Sans Light"/>
        <a:ea typeface="Open Sans"/>
        <a:cs typeface=""/>
      </a:majorFont>
      <a:minorFont>
        <a:latin typeface="Open Sans Light"/>
        <a:ea typeface="Open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3010</TotalTime>
  <Words>1377</Words>
  <Application>Microsoft Office PowerPoint</Application>
  <PresentationFormat>Widescreen</PresentationFormat>
  <Paragraphs>119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MS PGothic</vt:lpstr>
      <vt:lpstr>MS PGothic</vt:lpstr>
      <vt:lpstr>Arial</vt:lpstr>
      <vt:lpstr>Calibri</vt:lpstr>
      <vt:lpstr>Open Sans</vt:lpstr>
      <vt:lpstr>Open Sans Light</vt:lpstr>
      <vt:lpstr>Wingdings</vt:lpstr>
      <vt:lpstr>Office Theme</vt:lpstr>
      <vt:lpstr>Revenue Analysis Report</vt:lpstr>
      <vt:lpstr>Executive Summary</vt:lpstr>
      <vt:lpstr>Analysis Overview</vt:lpstr>
      <vt:lpstr>Analysis Overview</vt:lpstr>
      <vt:lpstr>Revenue by Region</vt:lpstr>
      <vt:lpstr>Sales Distribution</vt:lpstr>
      <vt:lpstr>Product Line Analysis</vt:lpstr>
      <vt:lpstr>Key Trends</vt:lpstr>
      <vt:lpstr>Regression Overview</vt:lpstr>
      <vt:lpstr>Regression Analysis</vt:lpstr>
      <vt:lpstr>Regression Analysis</vt:lpstr>
      <vt:lpstr>Recommendations</vt:lpstr>
      <vt:lpstr>Recommendation</vt:lpstr>
      <vt:lpstr>Strategic Review and Opportunities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Mwaala</dc:creator>
  <cp:lastModifiedBy>Martin Mwaala</cp:lastModifiedBy>
  <cp:revision>169</cp:revision>
  <dcterms:created xsi:type="dcterms:W3CDTF">2017-12-07T17:40:14Z</dcterms:created>
  <dcterms:modified xsi:type="dcterms:W3CDTF">2025-02-10T14:56:41Z</dcterms:modified>
</cp:coreProperties>
</file>